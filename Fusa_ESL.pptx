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1" r:id="rId4"/>
    <p:sldId id="262" r:id="rId5"/>
    <p:sldId id="257" r:id="rId6"/>
    <p:sldId id="258" r:id="rId7"/>
    <p:sldId id="259" r:id="rId8"/>
    <p:sldId id="260" r:id="rId9"/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AF6F-001D-4BFC-6412-0FB6B7E33DF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9DC0D-B0D0-13AB-857B-E5741FCB15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2EE95-B8A3-87D2-53C5-F253AFB3AE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B216DE-6704-4DAC-B176-17A07CDE4B6B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6D207-D3E7-0111-D11B-7F36BEAACEB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F82D1-8F48-A4E5-E216-635AE6BDB2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F591C8-52EA-4237-9241-FD4E7F3AAA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449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F3AE-C0A2-5632-4B45-352B8A6B1E1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9A92-4189-B4CC-F99A-68751768C76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EEAA0-6976-98A2-55BD-8C56CDB1C30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A4482B-211E-4438-A7B2-4BB26E7B70E9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A7F85-BCA0-04CE-CE1F-EFFE21C47B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EAF34-E8D2-F1A9-B818-A3987A0C94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EFB1BB-0710-461D-9DEB-11BE6224E18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1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0E03D-573C-3E46-3CE5-57BF113682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190FA-4995-564A-3763-F3D00EF6D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6CE27-71EB-29AA-1A76-74B52FE904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661563-8D81-4D08-ADC9-3D27D82D859E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7F040-8AA5-7BF1-DF27-B952786773F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78B34-F6B3-9A92-F3BC-67A28728F1C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4F04BE-296C-49A7-88BE-6DBCF6C5E3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8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D0FE-6A66-FACE-C2D4-C10B2B49FA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35476-3797-CED8-3243-64FFB7ECB3A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E39D99-72B9-3571-120C-59E5A3BDC1C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E17FF-80FB-12AC-A657-5AE0F3BC600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A6F84F-AA73-4C8D-A95C-C61452CED411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C071A-B7C0-6022-FEA8-11015B976A9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55767-8F1D-D4F2-99FF-752187102E2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89E44D-3F5B-429F-A295-446330F910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0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4D56E-E224-6FAC-926A-45A870CDC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0AD08-369B-370C-E19F-198007A1C6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26409-A729-A0E0-D8D9-AA69A8DB6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63ECD-6232-DC67-1B0A-780FB989A8E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2162E-76CE-474D-4271-702D67CFCFF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D3AD8-0049-8DA5-B7A5-9E216E472FB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63995E-4496-4782-8281-AC06860EE2EC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E97D5-2754-3E0B-1014-239DF3F53B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AB0D7-E5FF-EB06-8726-6529825C16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425E49-5564-4751-BE2D-BDC8008E6A8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0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9F4C-DBF2-4D4D-7CA9-349E32FA8B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90EBD6-8153-0CCD-8F3A-DC2F1C817A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AEE3C1-4C42-49BC-BDD3-5F077D7C3FCC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A6A7F-6E5A-8D7B-5D21-28E9E1033AB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AB2C9-6197-6857-BEA4-A4E9CB3171F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56F495-08A6-4823-99FC-F7BD1AA06F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89080-1B08-9F45-5A64-2DA9A6238C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30845E-F305-462A-9357-84B7A9C5AF30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1B35C-9DD4-A1D2-2DDB-AF9964DBDEB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D56F5-4D27-2575-459F-933E2E8ACB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A56E4D-9BFA-45CC-B4C4-15F672F28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2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936A-D444-F6FC-D2FA-C10ACD0E4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3088-954A-9A57-35AD-45524342A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246C7-B8BC-F95A-5CA2-79FB66D6FEB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66DC7-1528-9D8D-24F0-DBA4506EF54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31B3CC-71BF-451A-ABF5-34FED51715A0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1841F-65B9-B553-9200-6C2C1D242FD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A27D2-1CC6-D4AA-029E-7AD9A7A37F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CE7621-13DE-423B-943F-203E8389C3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58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0DB3-1D16-C302-B6B8-274D91C66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9F6493-8E3F-1634-8F3F-B5561D5BE14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B9A5E-CA81-08B0-AEFA-EC8EDB66451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B6B4A-D128-CFAD-9FDA-3B5B090FE50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17B431-D552-4DB7-A68F-F6588D22E200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732D4-2B6B-227B-7E8C-B511755418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8918C-9A82-4E81-1B8A-9E2D4F11A9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9EFA43-21ED-44C1-9611-36976FF06F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43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4604-235D-175E-5076-1A2AF21B017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87F3B-5B6E-79CE-E167-9DD7512944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CC0E6-1B21-2447-F0C7-EABCF26CD8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30C1B0-D51B-4C4F-96D1-DC76747D0EFF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263CF-D7F4-3C78-4E15-E087A538355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53B5C-4C60-74CA-95F4-0BF8047CAE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4ED9DF-1F93-4CF8-AA46-3497F78F02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2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152D7-3415-690E-620F-FAB1058EE73A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564B8-FDAE-B120-87B0-BD9351D445D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E12BF-9C96-5214-771D-A2AE60DC1C0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BE42BB-25CA-410D-8553-BA7820D7F209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C6195-EDB0-77C4-3A87-B26C7C3CE81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2166C-FC98-70E9-E946-08E7239D9A1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64786DE-1F29-4FC1-8D5C-D7F612012E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7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AB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D08146-0A81-5C58-E047-AD302AEF2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4CCEB-29F1-2C18-44F9-9C4DB65E82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21DD-B25B-4EA3-50DA-282643768F1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3ED8C674-ADAB-4A46-9C11-A6885AA67E51}" type="datetime1">
              <a:rPr lang="en-US"/>
              <a:pPr lvl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A7D9-9B3C-605F-B991-95550306EC5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43E69-D2CE-38C0-C7EB-B23561F04C4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05A6C26C-46CF-4E0C-9621-005077F734C2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04F5BB-75A2-23A4-DD3F-58A932CB11A5}"/>
              </a:ext>
            </a:extLst>
          </p:cNvPr>
          <p:cNvSpPr/>
          <p:nvPr/>
        </p:nvSpPr>
        <p:spPr>
          <a:xfrm>
            <a:off x="210312" y="155448"/>
            <a:ext cx="11823192" cy="6537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8E02B4B1-B529-6440-D475-D2A8BD3C20A2}"/>
              </a:ext>
            </a:extLst>
          </p:cNvPr>
          <p:cNvSpPr txBox="1"/>
          <p:nvPr/>
        </p:nvSpPr>
        <p:spPr>
          <a:xfrm>
            <a:off x="4748021" y="411480"/>
            <a:ext cx="2887218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rgbClr val="FF0000"/>
                </a:solidFill>
                <a:uFillTx/>
                <a:latin typeface="Times New Roman" pitchFamily="18"/>
                <a:cs typeface="Times New Roman" pitchFamily="18"/>
              </a:rPr>
              <a:t>Project Overview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753E33A1-B8D9-875D-F0D0-B0E07AB730A1}"/>
              </a:ext>
            </a:extLst>
          </p:cNvPr>
          <p:cNvSpPr txBox="1"/>
          <p:nvPr/>
        </p:nvSpPr>
        <p:spPr>
          <a:xfrm>
            <a:off x="1589154" y="1575172"/>
            <a:ext cx="10014581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ISO 26262 Functional Safety Analysis of an Electronic Steering Lock (ESL)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57CA1036-51D7-2783-C5B3-E58CA79C42FD}"/>
              </a:ext>
            </a:extLst>
          </p:cNvPr>
          <p:cNvSpPr txBox="1"/>
          <p:nvPr/>
        </p:nvSpPr>
        <p:spPr>
          <a:xfrm>
            <a:off x="537594" y="2615760"/>
            <a:ext cx="9880476" cy="9541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Objective:</a:t>
            </a:r>
            <a:b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</a:br>
            <a:r>
              <a:rPr lang="en-IN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To apply the ISO 26262 concept phase workflow to identify hazards, derive safety goals, and develop functional safety requirements for an Electronic Steering Lock system.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05013CD7-A66C-30C9-FD33-AB39F066DE8F}"/>
              </a:ext>
            </a:extLst>
          </p:cNvPr>
          <p:cNvSpPr txBox="1"/>
          <p:nvPr/>
        </p:nvSpPr>
        <p:spPr>
          <a:xfrm>
            <a:off x="537594" y="3928609"/>
            <a:ext cx="10343765" cy="12618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Scope:</a:t>
            </a:r>
            <a:b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</a:b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Electronic Steering Lock (ESL) system at the conceptual system level.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Workflow:</a:t>
            </a:r>
            <a:b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</a:b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Item Definition → HAZOP → HARA → Safety Goals → Functional Safety Concept → FSRs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C3672714-236F-7AA2-48A0-EEABFEF11024}"/>
              </a:ext>
            </a:extLst>
          </p:cNvPr>
          <p:cNvSpPr txBox="1"/>
          <p:nvPr/>
        </p:nvSpPr>
        <p:spPr>
          <a:xfrm>
            <a:off x="3742181" y="310896"/>
            <a:ext cx="470763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Item Definition for Electronic Steering Lock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7AA77-8B62-65CB-B611-1AAD16056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877647"/>
            <a:ext cx="11286744" cy="53885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C782B6F-7E15-0A98-95BD-E30BC5F04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818141"/>
            <a:ext cx="11661644" cy="560681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573FE02-5B2F-CC6A-4458-0AD199B3E2E6}"/>
              </a:ext>
            </a:extLst>
          </p:cNvPr>
          <p:cNvSpPr txBox="1"/>
          <p:nvPr/>
        </p:nvSpPr>
        <p:spPr>
          <a:xfrm>
            <a:off x="3289554" y="320040"/>
            <a:ext cx="605561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Block Definition Diagram for ESL_Item_Architecture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DFDF9089-2FDB-6EE8-53B1-83B5980B9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29" y="763670"/>
            <a:ext cx="11593138" cy="557312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4CEB7CBE-B5D3-F4C2-C0E0-BF1F756967A2}"/>
              </a:ext>
            </a:extLst>
          </p:cNvPr>
          <p:cNvSpPr txBox="1"/>
          <p:nvPr/>
        </p:nvSpPr>
        <p:spPr>
          <a:xfrm>
            <a:off x="4299207" y="266328"/>
            <a:ext cx="373836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Internal Block Diagram for ESL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B834BF7-55C8-C6B8-5DF1-1FBD77B00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993" y="1366753"/>
            <a:ext cx="7904009" cy="282119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1991835F-1629-4154-F945-7E26AA222710}"/>
              </a:ext>
            </a:extLst>
          </p:cNvPr>
          <p:cNvSpPr txBox="1"/>
          <p:nvPr/>
        </p:nvSpPr>
        <p:spPr>
          <a:xfrm>
            <a:off x="5670807" y="484632"/>
            <a:ext cx="105917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HAZOP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4C90734-5129-29CA-50CF-22F420660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971" y="961235"/>
            <a:ext cx="4182063" cy="54212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FD582B44-0740-FC7C-7975-3E6CAE3A3A4F}"/>
              </a:ext>
            </a:extLst>
          </p:cNvPr>
          <p:cNvSpPr txBox="1"/>
          <p:nvPr/>
        </p:nvSpPr>
        <p:spPr>
          <a:xfrm>
            <a:off x="4523582" y="235960"/>
            <a:ext cx="314482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Operational Situations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69FBD5C-AD0C-DB50-9850-EA2E09C0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45" y="1386843"/>
            <a:ext cx="10072116" cy="411784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FCB6E22F-29D1-59AE-089C-06EEB5C712D9}"/>
              </a:ext>
            </a:extLst>
          </p:cNvPr>
          <p:cNvSpPr txBox="1"/>
          <p:nvPr/>
        </p:nvSpPr>
        <p:spPr>
          <a:xfrm>
            <a:off x="3733037" y="667512"/>
            <a:ext cx="494461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Hazard Analysis and Risk Assessment (HARA)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00AF949-8838-193F-FE1A-DA80D00DE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28" y="1314157"/>
            <a:ext cx="5696748" cy="422969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8795E32F-0247-F4B8-165F-AC3FEEE85BB1}"/>
              </a:ext>
            </a:extLst>
          </p:cNvPr>
          <p:cNvSpPr txBox="1"/>
          <p:nvPr/>
        </p:nvSpPr>
        <p:spPr>
          <a:xfrm>
            <a:off x="5670807" y="484632"/>
            <a:ext cx="162610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Safety Goals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9A62929-220E-BADF-0D39-7353AF8C4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9" y="521209"/>
            <a:ext cx="12042649" cy="626006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034D343-051B-7302-EF18-BDBDE770012B}"/>
              </a:ext>
            </a:extLst>
          </p:cNvPr>
          <p:cNvSpPr txBox="1"/>
          <p:nvPr/>
        </p:nvSpPr>
        <p:spPr>
          <a:xfrm>
            <a:off x="3993067" y="76727"/>
            <a:ext cx="4202812" cy="4001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Safety Concept – SG-001</a:t>
            </a:r>
            <a:endParaRPr lang="en-US" sz="2000" b="1" i="0" u="none" strike="noStrike" kern="1200" cap="none" spc="0" baseline="0" dirty="0">
              <a:solidFill>
                <a:srgbClr val="000000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A3FFF-E49F-C7A3-6D78-87CE7D123983}"/>
              </a:ext>
            </a:extLst>
          </p:cNvPr>
          <p:cNvSpPr txBox="1"/>
          <p:nvPr/>
        </p:nvSpPr>
        <p:spPr>
          <a:xfrm>
            <a:off x="276606" y="1982462"/>
            <a:ext cx="28597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ASIL D Safety Goal and Derived Functional Safety Requirements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127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Venkatraghavan Rajag</dc:creator>
  <cp:lastModifiedBy>Venkatraghavan Rajag</cp:lastModifiedBy>
  <cp:revision>5</cp:revision>
  <dcterms:created xsi:type="dcterms:W3CDTF">2026-07-13T05:43:48Z</dcterms:created>
  <dcterms:modified xsi:type="dcterms:W3CDTF">2026-07-15T02:36:30Z</dcterms:modified>
</cp:coreProperties>
</file>